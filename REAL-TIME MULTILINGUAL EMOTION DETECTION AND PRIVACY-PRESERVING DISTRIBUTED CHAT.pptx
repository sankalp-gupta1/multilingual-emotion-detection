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17" r:id="rId5"/>
    <p:sldId id="307" r:id="rId6"/>
    <p:sldId id="308" r:id="rId7"/>
    <p:sldId id="278" r:id="rId8"/>
    <p:sldId id="309" r:id="rId9"/>
    <p:sldId id="263" r:id="rId10"/>
    <p:sldId id="310" r:id="rId11"/>
    <p:sldId id="311" r:id="rId12"/>
    <p:sldId id="312" r:id="rId13"/>
    <p:sldId id="316" r:id="rId14"/>
    <p:sldId id="314" r:id="rId15"/>
    <p:sldId id="315" r:id="rId16"/>
    <p:sldId id="318" r:id="rId17"/>
    <p:sldId id="319" r:id="rId18"/>
    <p:sldId id="320" r:id="rId19"/>
    <p:sldId id="30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405" autoAdjust="0"/>
  </p:normalViewPr>
  <p:slideViewPr>
    <p:cSldViewPr snapToGrid="0">
      <p:cViewPr varScale="1">
        <p:scale>
          <a:sx n="91" d="100"/>
          <a:sy n="91" d="100"/>
        </p:scale>
        <p:origin x="322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A01CCD-6F28-46F5-8CDE-A81B1F3D3F69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AA78683-8CB0-4F7A-AA59-E22CC3E868C9}">
      <dgm:prSet custT="1"/>
      <dgm:spPr/>
      <dgm:t>
        <a:bodyPr/>
        <a:lstStyle/>
        <a:p>
          <a:pPr>
            <a:lnSpc>
              <a:spcPct val="90000"/>
            </a:lnSpc>
            <a:spcAft>
              <a:spcPct val="35000"/>
            </a:spcAft>
          </a:pPr>
          <a:endParaRPr lang="en-US" sz="1400" dirty="0"/>
        </a:p>
        <a:p>
          <a:pPr>
            <a:lnSpc>
              <a:spcPct val="90000"/>
            </a:lnSpc>
            <a:spcAft>
              <a:spcPct val="35000"/>
            </a:spcAft>
          </a:pPr>
          <a:endParaRPr lang="en-US" sz="1400" dirty="0"/>
        </a:p>
        <a:p>
          <a:pPr>
            <a:lnSpc>
              <a:spcPct val="90000"/>
            </a:lnSpc>
            <a:spcAft>
              <a:spcPct val="35000"/>
            </a:spcAft>
          </a:pPr>
          <a:endParaRPr lang="en-US" sz="2800" b="1" dirty="0"/>
        </a:p>
        <a:p>
          <a:pPr>
            <a:lnSpc>
              <a:spcPct val="90000"/>
            </a:lnSpc>
            <a:spcAft>
              <a:spcPct val="35000"/>
            </a:spcAft>
          </a:pPr>
          <a:endParaRPr lang="en-US" sz="2800" b="1" dirty="0"/>
        </a:p>
        <a:p>
          <a:pPr>
            <a:lnSpc>
              <a:spcPct val="90000"/>
            </a:lnSpc>
            <a:spcAft>
              <a:spcPct val="35000"/>
            </a:spcAft>
          </a:pPr>
          <a:r>
            <a:rPr lang="en-US" sz="2800" b="1" dirty="0">
              <a:latin typeface="Sagona Book (Headings)"/>
            </a:rPr>
            <a:t>INTRODUCTION</a:t>
          </a:r>
          <a:br>
            <a:rPr lang="en-US" sz="1400" dirty="0">
              <a:latin typeface="Sagona Book (Headings)"/>
            </a:rPr>
          </a:br>
          <a:r>
            <a:rPr lang="en-IN" sz="2000" b="1" dirty="0">
              <a:latin typeface="Sagona Book (Headings)"/>
            </a:rPr>
            <a:t>Problem</a:t>
          </a:r>
          <a:br>
            <a:rPr lang="en-IN" sz="1400" b="1" dirty="0">
              <a:latin typeface="Sagona Book (Headings)"/>
            </a:rPr>
          </a:br>
          <a:r>
            <a:rPr lang="en-IN" sz="1700" b="1" dirty="0">
              <a:latin typeface="Sagona Book (Headings)"/>
            </a:rPr>
            <a:t>                            </a:t>
          </a:r>
          <a:r>
            <a:rPr lang="en-IN" sz="1700" dirty="0">
              <a:latin typeface="Sagona Book (Headings)"/>
            </a:rPr>
            <a:t>1</a:t>
          </a:r>
          <a:r>
            <a:rPr lang="en-IN" sz="1700" b="1" dirty="0">
              <a:latin typeface="Sagona Book (Headings)"/>
            </a:rPr>
            <a:t>. </a:t>
          </a:r>
          <a:r>
            <a:rPr lang="en-IN" sz="1700" dirty="0">
              <a:latin typeface="Sagona Book (Headings)"/>
            </a:rPr>
            <a:t>Traditional chat systems cannot understand emotions</a:t>
          </a:r>
          <a:br>
            <a:rPr lang="en-IN" sz="1700" dirty="0">
              <a:latin typeface="Sagona Book (Headings)"/>
            </a:rPr>
          </a:br>
          <a:r>
            <a:rPr lang="en-IN" sz="1700" dirty="0">
              <a:latin typeface="Sagona Book (Headings)"/>
            </a:rPr>
            <a:t>     2. No emotional intelligence in communication</a:t>
          </a:r>
          <a:br>
            <a:rPr lang="en-IN" sz="1700" dirty="0">
              <a:latin typeface="Sagona Book (Headings)"/>
            </a:rPr>
          </a:br>
          <a:r>
            <a:rPr lang="en-IN" sz="1700" dirty="0">
              <a:latin typeface="Sagona Book (Headings)"/>
            </a:rPr>
            <a:t>3. Text + facial emotions handled separately</a:t>
          </a:r>
        </a:p>
        <a:p>
          <a:pPr>
            <a:lnSpc>
              <a:spcPct val="90000"/>
            </a:lnSpc>
            <a:spcAft>
              <a:spcPct val="35000"/>
            </a:spcAft>
          </a:pPr>
          <a:endParaRPr lang="en-IN" sz="1700" dirty="0">
            <a:latin typeface="Sagona Book (Headings)"/>
          </a:endParaRPr>
        </a:p>
        <a:p>
          <a:pPr>
            <a:lnSpc>
              <a:spcPct val="90000"/>
            </a:lnSpc>
            <a:spcAft>
              <a:spcPct val="35000"/>
            </a:spcAft>
          </a:pPr>
          <a:r>
            <a:rPr lang="en-IN" sz="1800" b="1" dirty="0">
              <a:latin typeface="Sagona Book (Headings)"/>
            </a:rPr>
            <a:t>Proposed Solution</a:t>
          </a:r>
        </a:p>
        <a:p>
          <a:pPr>
            <a:lnSpc>
              <a:spcPct val="90000"/>
            </a:lnSpc>
            <a:spcAft>
              <a:spcPct val="35000"/>
            </a:spcAft>
          </a:pPr>
          <a:r>
            <a:rPr lang="en-IN" sz="1700" dirty="0">
              <a:latin typeface="Sagona Book (Headings)"/>
            </a:rPr>
            <a:t>1. Real-time multilingual emotion detection</a:t>
          </a:r>
          <a:br>
            <a:rPr lang="en-IN" sz="1700" dirty="0">
              <a:latin typeface="Sagona Book (Headings)"/>
            </a:rPr>
          </a:br>
          <a:r>
            <a:rPr lang="en-IN" sz="1700" dirty="0">
              <a:latin typeface="Sagona Book (Headings)"/>
            </a:rPr>
            <a:t>2.Facial emotion recognition using webcam</a:t>
          </a:r>
          <a:br>
            <a:rPr lang="en-IN" sz="1700" dirty="0">
              <a:latin typeface="Sagona Book (Headings)"/>
            </a:rPr>
          </a:br>
          <a:r>
            <a:rPr lang="en-IN" sz="1700" dirty="0">
              <a:latin typeface="Sagona Book (Headings)"/>
            </a:rPr>
            <a:t>3. Distributed synchronized communication</a:t>
          </a:r>
          <a:br>
            <a:rPr lang="en-IN" sz="1700" dirty="0">
              <a:latin typeface="Sagona Book (Headings)"/>
            </a:rPr>
          </a:br>
          <a:r>
            <a:rPr lang="en-IN" sz="1700" dirty="0">
              <a:latin typeface="Sagona Book (Headings)"/>
            </a:rPr>
            <a:t>AI-driven live emotional analytics</a:t>
          </a:r>
        </a:p>
        <a:p>
          <a:pPr>
            <a:lnSpc>
              <a:spcPct val="90000"/>
            </a:lnSpc>
            <a:spcAft>
              <a:spcPct val="35000"/>
            </a:spcAft>
          </a:pPr>
          <a:endParaRPr lang="en-IN" sz="1700" dirty="0">
            <a:latin typeface="Sagona Book (Headings)"/>
          </a:endParaRPr>
        </a:p>
        <a:p>
          <a:pPr>
            <a:lnSpc>
              <a:spcPct val="100000"/>
            </a:lnSpc>
            <a:spcAft>
              <a:spcPct val="35000"/>
            </a:spcAft>
          </a:pPr>
          <a:r>
            <a:rPr lang="en-IN" sz="1800" b="1" dirty="0">
              <a:latin typeface="Sagona Book (Headings)"/>
            </a:rPr>
            <a:t>Core Technologies</a:t>
          </a:r>
          <a:br>
            <a:rPr lang="en-IN" sz="1400" dirty="0">
              <a:latin typeface="Sagona Book (Headings)"/>
            </a:rPr>
          </a:br>
          <a:r>
            <a:rPr lang="en-IN" sz="1400" dirty="0">
              <a:latin typeface="Sagona Book (Headings)"/>
            </a:rPr>
            <a:t>               </a:t>
          </a:r>
          <a:r>
            <a:rPr lang="en-IN" sz="1700" dirty="0">
              <a:latin typeface="Sagona Book (Headings)"/>
            </a:rPr>
            <a:t>Frontend(</a:t>
          </a:r>
          <a:r>
            <a:rPr lang="en-IN" sz="1700" dirty="0" err="1">
              <a:latin typeface="Sagona Book (Headings)"/>
            </a:rPr>
            <a:t>Streamlit</a:t>
          </a:r>
          <a:r>
            <a:rPr lang="en-IN" sz="1700" dirty="0">
              <a:latin typeface="Sagona Book (Headings)"/>
            </a:rPr>
            <a:t>) ⇄ Fast API Rest APIs⇄ Backend AI Processing</a:t>
          </a:r>
          <a:br>
            <a:rPr lang="en-IN" sz="1400" dirty="0">
              <a:latin typeface="Sagona Book (Headings)"/>
            </a:rPr>
          </a:br>
          <a:endParaRPr lang="en-IN" sz="1400" dirty="0">
            <a:latin typeface="Sagona Book (Headings)"/>
          </a:endParaRPr>
        </a:p>
        <a:p>
          <a:pPr>
            <a:lnSpc>
              <a:spcPct val="100000"/>
            </a:lnSpc>
            <a:spcAft>
              <a:spcPts val="0"/>
            </a:spcAft>
          </a:pPr>
          <a:r>
            <a:rPr lang="en-IN" sz="1800" b="1" dirty="0">
              <a:latin typeface="Sagona Book (Headings)"/>
            </a:rPr>
            <a:t>Key Flow</a:t>
          </a:r>
          <a:br>
            <a:rPr lang="en-IN" sz="1400" b="1" dirty="0">
              <a:latin typeface="Sagona Book (Headings)"/>
            </a:rPr>
          </a:br>
          <a:r>
            <a:rPr lang="en-IN" sz="1400" b="1" dirty="0">
              <a:latin typeface="Sagona Book (Headings)"/>
            </a:rPr>
            <a:t>              </a:t>
          </a:r>
          <a:r>
            <a:rPr lang="en-IN" sz="1700" dirty="0">
              <a:latin typeface="Sagona Book (Headings)"/>
            </a:rPr>
            <a:t>• Emotion Detection                           • API Communication          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IN" sz="1700" dirty="0">
              <a:latin typeface="Sagona Book (Headings)"/>
            </a:rPr>
            <a:t>                          • Multi-User Synchronization                  • Real-Time Processing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IN" sz="1700" dirty="0">
              <a:latin typeface="Sagona Book (Headings)"/>
            </a:rPr>
            <a:t>                        • Live Analytics Display                        • Shared Camera Control</a:t>
          </a:r>
        </a:p>
        <a:p>
          <a:pPr>
            <a:lnSpc>
              <a:spcPct val="90000"/>
            </a:lnSpc>
            <a:spcAft>
              <a:spcPts val="0"/>
            </a:spcAft>
          </a:pPr>
          <a:br>
            <a:rPr lang="en-IN" sz="1400" dirty="0"/>
          </a:br>
          <a:br>
            <a:rPr lang="en-US" sz="1400" dirty="0"/>
          </a:br>
          <a:br>
            <a:rPr lang="en-US" sz="1400" dirty="0"/>
          </a:br>
          <a:br>
            <a:rPr lang="en-US" sz="1400" dirty="0"/>
          </a:br>
          <a:br>
            <a:rPr lang="en-US" sz="1400" dirty="0"/>
          </a:br>
          <a:br>
            <a:rPr lang="en-US" sz="1400" dirty="0"/>
          </a:br>
          <a:br>
            <a:rPr lang="en-US" sz="1400" dirty="0"/>
          </a:br>
          <a:endParaRPr lang="en-IN" sz="1400" dirty="0"/>
        </a:p>
      </dgm:t>
    </dgm:pt>
    <dgm:pt modelId="{5D8AA712-BEDC-496F-9C49-DCFA315BF18D}" type="parTrans" cxnId="{2DEC8EA0-80AC-4DEC-B88F-19ECB9598B1A}">
      <dgm:prSet/>
      <dgm:spPr/>
      <dgm:t>
        <a:bodyPr/>
        <a:lstStyle/>
        <a:p>
          <a:endParaRPr lang="en-IN"/>
        </a:p>
      </dgm:t>
    </dgm:pt>
    <dgm:pt modelId="{D962AE31-F308-4191-9D5D-B4CF9A9F65A9}" type="sibTrans" cxnId="{2DEC8EA0-80AC-4DEC-B88F-19ECB9598B1A}">
      <dgm:prSet/>
      <dgm:spPr/>
      <dgm:t>
        <a:bodyPr/>
        <a:lstStyle/>
        <a:p>
          <a:endParaRPr lang="en-IN"/>
        </a:p>
      </dgm:t>
    </dgm:pt>
    <dgm:pt modelId="{2FBB130B-BDC6-493F-A840-16385FF880D7}" type="pres">
      <dgm:prSet presAssocID="{BAA01CCD-6F28-46F5-8CDE-A81B1F3D3F69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FBD38C66-1070-4F81-8381-E77D269A1AC8}" type="pres">
      <dgm:prSet presAssocID="{CAA78683-8CB0-4F7A-AA59-E22CC3E868C9}" presName="circle1" presStyleLbl="node1" presStyleIdx="0" presStyleCnt="1"/>
      <dgm:spPr/>
    </dgm:pt>
    <dgm:pt modelId="{7B0C3F26-035C-45FC-83C7-FDAC0045F655}" type="pres">
      <dgm:prSet presAssocID="{CAA78683-8CB0-4F7A-AA59-E22CC3E868C9}" presName="space" presStyleCnt="0"/>
      <dgm:spPr/>
    </dgm:pt>
    <dgm:pt modelId="{5E078420-3978-4EFE-A13A-1A829D9E3DDF}" type="pres">
      <dgm:prSet presAssocID="{CAA78683-8CB0-4F7A-AA59-E22CC3E868C9}" presName="rect1" presStyleLbl="alignAcc1" presStyleIdx="0" presStyleCnt="1"/>
      <dgm:spPr/>
    </dgm:pt>
    <dgm:pt modelId="{E2A0FD43-AE2A-43B8-AA0F-546CDA4AE469}" type="pres">
      <dgm:prSet presAssocID="{CAA78683-8CB0-4F7A-AA59-E22CC3E868C9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0B780A5E-D8D7-4F37-8B45-017449502D0B}" type="presOf" srcId="{CAA78683-8CB0-4F7A-AA59-E22CC3E868C9}" destId="{E2A0FD43-AE2A-43B8-AA0F-546CDA4AE469}" srcOrd="1" destOrd="0" presId="urn:microsoft.com/office/officeart/2005/8/layout/target3"/>
    <dgm:cxn modelId="{D4DEE68D-754B-4199-9992-E015FC088D79}" type="presOf" srcId="{BAA01CCD-6F28-46F5-8CDE-A81B1F3D3F69}" destId="{2FBB130B-BDC6-493F-A840-16385FF880D7}" srcOrd="0" destOrd="0" presId="urn:microsoft.com/office/officeart/2005/8/layout/target3"/>
    <dgm:cxn modelId="{2DEC8EA0-80AC-4DEC-B88F-19ECB9598B1A}" srcId="{BAA01CCD-6F28-46F5-8CDE-A81B1F3D3F69}" destId="{CAA78683-8CB0-4F7A-AA59-E22CC3E868C9}" srcOrd="0" destOrd="0" parTransId="{5D8AA712-BEDC-496F-9C49-DCFA315BF18D}" sibTransId="{D962AE31-F308-4191-9D5D-B4CF9A9F65A9}"/>
    <dgm:cxn modelId="{A5F691ED-F6CB-42E2-B764-53E157AD052F}" type="presOf" srcId="{CAA78683-8CB0-4F7A-AA59-E22CC3E868C9}" destId="{5E078420-3978-4EFE-A13A-1A829D9E3DDF}" srcOrd="0" destOrd="0" presId="urn:microsoft.com/office/officeart/2005/8/layout/target3"/>
    <dgm:cxn modelId="{6841B2C5-15CF-4EAE-9697-FF7101E563D8}" type="presParOf" srcId="{2FBB130B-BDC6-493F-A840-16385FF880D7}" destId="{FBD38C66-1070-4F81-8381-E77D269A1AC8}" srcOrd="0" destOrd="0" presId="urn:microsoft.com/office/officeart/2005/8/layout/target3"/>
    <dgm:cxn modelId="{3208667B-F355-4B91-9C3D-C012E2DAD0B3}" type="presParOf" srcId="{2FBB130B-BDC6-493F-A840-16385FF880D7}" destId="{7B0C3F26-035C-45FC-83C7-FDAC0045F655}" srcOrd="1" destOrd="0" presId="urn:microsoft.com/office/officeart/2005/8/layout/target3"/>
    <dgm:cxn modelId="{D5FED97B-4F0C-4889-96BA-F1F791FB15E0}" type="presParOf" srcId="{2FBB130B-BDC6-493F-A840-16385FF880D7}" destId="{5E078420-3978-4EFE-A13A-1A829D9E3DDF}" srcOrd="2" destOrd="0" presId="urn:microsoft.com/office/officeart/2005/8/layout/target3"/>
    <dgm:cxn modelId="{539EF470-97BC-4300-91B3-7A17CD2B7192}" type="presParOf" srcId="{2FBB130B-BDC6-493F-A840-16385FF880D7}" destId="{E2A0FD43-AE2A-43B8-AA0F-546CDA4AE469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38C66-1070-4F81-8381-E77D269A1AC8}">
      <dsp:nvSpPr>
        <dsp:cNvPr id="0" name=""/>
        <dsp:cNvSpPr/>
      </dsp:nvSpPr>
      <dsp:spPr>
        <a:xfrm>
          <a:off x="0" y="0"/>
          <a:ext cx="6082019" cy="608201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78420-3978-4EFE-A13A-1A829D9E3DDF}">
      <dsp:nvSpPr>
        <dsp:cNvPr id="0" name=""/>
        <dsp:cNvSpPr/>
      </dsp:nvSpPr>
      <dsp:spPr>
        <a:xfrm>
          <a:off x="3041009" y="0"/>
          <a:ext cx="7621397" cy="608201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b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b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Sagona Book (Headings)"/>
            </a:rPr>
            <a:t>INTRODUCTION</a:t>
          </a:r>
          <a:br>
            <a:rPr lang="en-US" sz="1400" kern="1200" dirty="0">
              <a:latin typeface="Sagona Book (Headings)"/>
            </a:rPr>
          </a:br>
          <a:r>
            <a:rPr lang="en-IN" sz="2000" b="1" kern="1200" dirty="0">
              <a:latin typeface="Sagona Book (Headings)"/>
            </a:rPr>
            <a:t>Problem</a:t>
          </a:r>
          <a:br>
            <a:rPr lang="en-IN" sz="1400" b="1" kern="1200" dirty="0">
              <a:latin typeface="Sagona Book (Headings)"/>
            </a:rPr>
          </a:br>
          <a:r>
            <a:rPr lang="en-IN" sz="1700" b="1" kern="1200" dirty="0">
              <a:latin typeface="Sagona Book (Headings)"/>
            </a:rPr>
            <a:t>                            </a:t>
          </a:r>
          <a:r>
            <a:rPr lang="en-IN" sz="1700" kern="1200" dirty="0">
              <a:latin typeface="Sagona Book (Headings)"/>
            </a:rPr>
            <a:t>1</a:t>
          </a:r>
          <a:r>
            <a:rPr lang="en-IN" sz="1700" b="1" kern="1200" dirty="0">
              <a:latin typeface="Sagona Book (Headings)"/>
            </a:rPr>
            <a:t>. </a:t>
          </a:r>
          <a:r>
            <a:rPr lang="en-IN" sz="1700" kern="1200" dirty="0">
              <a:latin typeface="Sagona Book (Headings)"/>
            </a:rPr>
            <a:t>Traditional chat systems cannot understand emotions</a:t>
          </a:r>
          <a:br>
            <a:rPr lang="en-IN" sz="1700" kern="1200" dirty="0">
              <a:latin typeface="Sagona Book (Headings)"/>
            </a:rPr>
          </a:br>
          <a:r>
            <a:rPr lang="en-IN" sz="1700" kern="1200" dirty="0">
              <a:latin typeface="Sagona Book (Headings)"/>
            </a:rPr>
            <a:t>     2. No emotional intelligence in communication</a:t>
          </a:r>
          <a:br>
            <a:rPr lang="en-IN" sz="1700" kern="1200" dirty="0">
              <a:latin typeface="Sagona Book (Headings)"/>
            </a:rPr>
          </a:br>
          <a:r>
            <a:rPr lang="en-IN" sz="1700" kern="1200" dirty="0">
              <a:latin typeface="Sagona Book (Headings)"/>
            </a:rPr>
            <a:t>3. Text + facial emotions handled separately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 dirty="0">
            <a:latin typeface="Sagona Book (Headings)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Sagona Book (Headings)"/>
            </a:rPr>
            <a:t>Proposed Solution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Sagona Book (Headings)"/>
            </a:rPr>
            <a:t>1. Real-time multilingual emotion detection</a:t>
          </a:r>
          <a:br>
            <a:rPr lang="en-IN" sz="1700" kern="1200" dirty="0">
              <a:latin typeface="Sagona Book (Headings)"/>
            </a:rPr>
          </a:br>
          <a:r>
            <a:rPr lang="en-IN" sz="1700" kern="1200" dirty="0">
              <a:latin typeface="Sagona Book (Headings)"/>
            </a:rPr>
            <a:t>2.Facial emotion recognition using webcam</a:t>
          </a:r>
          <a:br>
            <a:rPr lang="en-IN" sz="1700" kern="1200" dirty="0">
              <a:latin typeface="Sagona Book (Headings)"/>
            </a:rPr>
          </a:br>
          <a:r>
            <a:rPr lang="en-IN" sz="1700" kern="1200" dirty="0">
              <a:latin typeface="Sagona Book (Headings)"/>
            </a:rPr>
            <a:t>3. Distributed synchronized communication</a:t>
          </a:r>
          <a:br>
            <a:rPr lang="en-IN" sz="1700" kern="1200" dirty="0">
              <a:latin typeface="Sagona Book (Headings)"/>
            </a:rPr>
          </a:br>
          <a:r>
            <a:rPr lang="en-IN" sz="1700" kern="1200" dirty="0">
              <a:latin typeface="Sagona Book (Headings)"/>
            </a:rPr>
            <a:t>AI-driven live emotional analytics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 dirty="0">
            <a:latin typeface="Sagona Book (Headings)"/>
          </a:endParaRP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Sagona Book (Headings)"/>
            </a:rPr>
            <a:t>Core Technologies</a:t>
          </a:r>
          <a:br>
            <a:rPr lang="en-IN" sz="1400" kern="1200" dirty="0">
              <a:latin typeface="Sagona Book (Headings)"/>
            </a:rPr>
          </a:br>
          <a:r>
            <a:rPr lang="en-IN" sz="1400" kern="1200" dirty="0">
              <a:latin typeface="Sagona Book (Headings)"/>
            </a:rPr>
            <a:t>               </a:t>
          </a:r>
          <a:r>
            <a:rPr lang="en-IN" sz="1700" kern="1200" dirty="0">
              <a:latin typeface="Sagona Book (Headings)"/>
            </a:rPr>
            <a:t>Frontend(</a:t>
          </a:r>
          <a:r>
            <a:rPr lang="en-IN" sz="1700" kern="1200" dirty="0" err="1">
              <a:latin typeface="Sagona Book (Headings)"/>
            </a:rPr>
            <a:t>Streamlit</a:t>
          </a:r>
          <a:r>
            <a:rPr lang="en-IN" sz="1700" kern="1200" dirty="0">
              <a:latin typeface="Sagona Book (Headings)"/>
            </a:rPr>
            <a:t>) ⇄ Fast API Rest APIs⇄ Backend AI Processing</a:t>
          </a:r>
          <a:br>
            <a:rPr lang="en-IN" sz="1400" kern="1200" dirty="0">
              <a:latin typeface="Sagona Book (Headings)"/>
            </a:rPr>
          </a:br>
          <a:endParaRPr lang="en-IN" sz="1400" kern="1200" dirty="0">
            <a:latin typeface="Sagona Book (Headings)"/>
          </a:endParaRP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800" b="1" kern="1200" dirty="0">
              <a:latin typeface="Sagona Book (Headings)"/>
            </a:rPr>
            <a:t>Key Flow</a:t>
          </a:r>
          <a:br>
            <a:rPr lang="en-IN" sz="1400" b="1" kern="1200" dirty="0">
              <a:latin typeface="Sagona Book (Headings)"/>
            </a:rPr>
          </a:br>
          <a:r>
            <a:rPr lang="en-IN" sz="1400" b="1" kern="1200" dirty="0">
              <a:latin typeface="Sagona Book (Headings)"/>
            </a:rPr>
            <a:t>              </a:t>
          </a:r>
          <a:r>
            <a:rPr lang="en-IN" sz="1700" kern="1200" dirty="0">
              <a:latin typeface="Sagona Book (Headings)"/>
            </a:rPr>
            <a:t>• Emotion Detection                           • API Communication         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700" kern="1200" dirty="0">
              <a:latin typeface="Sagona Book (Headings)"/>
            </a:rPr>
            <a:t>                          • Multi-User Synchronization                  • Real-Time Processing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700" kern="1200" dirty="0">
              <a:latin typeface="Sagona Book (Headings)"/>
            </a:rPr>
            <a:t>                        • Live Analytics Display                        • Shared Camera Control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br>
            <a:rPr lang="en-IN" sz="1400" kern="1200" dirty="0"/>
          </a:br>
          <a:br>
            <a:rPr lang="en-US" sz="1400" kern="1200" dirty="0"/>
          </a:br>
          <a:br>
            <a:rPr lang="en-US" sz="1400" kern="1200" dirty="0"/>
          </a:br>
          <a:br>
            <a:rPr lang="en-US" sz="1400" kern="1200" dirty="0"/>
          </a:br>
          <a:br>
            <a:rPr lang="en-US" sz="1400" kern="1200" dirty="0"/>
          </a:br>
          <a:br>
            <a:rPr lang="en-US" sz="1400" kern="1200" dirty="0"/>
          </a:br>
          <a:br>
            <a:rPr lang="en-US" sz="1400" kern="1200" dirty="0"/>
          </a:br>
          <a:endParaRPr lang="en-IN" sz="1400" kern="1200" dirty="0"/>
        </a:p>
      </dsp:txBody>
      <dsp:txXfrm>
        <a:off x="3041009" y="0"/>
        <a:ext cx="7621397" cy="60820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5/18/2026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578841"/>
            <a:ext cx="10360152" cy="5364760"/>
          </a:xfrm>
        </p:spPr>
        <p:txBody>
          <a:bodyPr anchor="ctr"/>
          <a:lstStyle/>
          <a:p>
            <a:r>
              <a:rPr lang="en-IN" sz="3200" dirty="0">
                <a:solidFill>
                  <a:schemeClr val="bg2">
                    <a:lumMod val="10000"/>
                  </a:schemeClr>
                </a:solidFill>
              </a:rPr>
              <a:t>REAL-TIME MULTILINGUAL EMOTION DETECTION AND PRIVACY-PRESERVING DISTRIBUTED CHAT SYSTEM USING COSINE TRANSFORMER ATTENTION MECHANISM</a:t>
            </a:r>
            <a:br>
              <a:rPr lang="en-IN" sz="3200" dirty="0">
                <a:solidFill>
                  <a:schemeClr val="bg2">
                    <a:lumMod val="10000"/>
                  </a:schemeClr>
                </a:solidFill>
              </a:rPr>
            </a:br>
            <a:br>
              <a:rPr lang="en-IN" sz="3200" dirty="0">
                <a:solidFill>
                  <a:schemeClr val="bg2">
                    <a:lumMod val="10000"/>
                  </a:schemeClr>
                </a:solidFill>
              </a:rPr>
            </a:br>
            <a:br>
              <a:rPr lang="en-IN" sz="3200" dirty="0">
                <a:solidFill>
                  <a:schemeClr val="bg2">
                    <a:lumMod val="10000"/>
                  </a:schemeClr>
                </a:solidFill>
              </a:rPr>
            </a:br>
            <a:br>
              <a:rPr lang="en-IN" sz="3200" dirty="0"/>
            </a:br>
            <a:r>
              <a:rPr lang="en-IN" sz="3200" dirty="0"/>
              <a:t> </a:t>
            </a:r>
            <a:br>
              <a:rPr lang="en-IN" sz="3200" dirty="0"/>
            </a:br>
            <a:r>
              <a:rPr lang="en-IN" sz="2400" b="1" dirty="0"/>
              <a:t>Presented By:                                                                                              Guided By.   </a:t>
            </a:r>
            <a:br>
              <a:rPr lang="en-IN" sz="2400" dirty="0"/>
            </a:br>
            <a:r>
              <a:rPr lang="en-IN" sz="2400" dirty="0"/>
              <a:t>  Sankalp Gupta                                                                           Er. Shesh Mani Tiwari           Suryansh Sharma                                                                                    Department Of </a:t>
            </a:r>
            <a:br>
              <a:rPr lang="en-IN" sz="2400" dirty="0"/>
            </a:br>
            <a:r>
              <a:rPr lang="en-IN" sz="2400" dirty="0"/>
              <a:t>   Pranshu Yadav                                                                                    Computer Science ,  </a:t>
            </a:r>
            <a:br>
              <a:rPr lang="en-IN" sz="2400" dirty="0"/>
            </a:br>
            <a:r>
              <a:rPr lang="en-IN" sz="2400" dirty="0"/>
              <a:t>                                                                                                          CSJM University , Kanpur           </a:t>
            </a:r>
            <a:endParaRPr lang="en-US" sz="2400" dirty="0"/>
          </a:p>
        </p:txBody>
      </p:sp>
      <p:pic>
        <p:nvPicPr>
          <p:cNvPr id="6" name="Picture 5" descr="Shakuntala Krishna Institute of Technology Kanpur News and Latest Updates  2026">
            <a:extLst>
              <a:ext uri="{FF2B5EF4-FFF2-40B4-BE49-F238E27FC236}">
                <a16:creationId xmlns:a16="http://schemas.microsoft.com/office/drawing/2014/main" id="{3AF1FEC7-59DB-E510-BA49-8DFDE18E1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978" y="3154260"/>
            <a:ext cx="2777827" cy="282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03689E2-4485-BC7F-8AA6-D6D584A44E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6457698"/>
              </p:ext>
            </p:extLst>
          </p:nvPr>
        </p:nvGraphicFramePr>
        <p:xfrm>
          <a:off x="822121" y="503339"/>
          <a:ext cx="10662407" cy="6082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 descr="LiveSense - Real-time emotional intelligence for every video session">
            <a:extLst>
              <a:ext uri="{FF2B5EF4-FFF2-40B4-BE49-F238E27FC236}">
                <a16:creationId xmlns:a16="http://schemas.microsoft.com/office/drawing/2014/main" id="{8B999436-467B-9880-9AED-0AB1871A430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42920"/>
          <a:stretch>
            <a:fillRect/>
          </a:stretch>
        </p:blipFill>
        <p:spPr>
          <a:xfrm>
            <a:off x="176463" y="503339"/>
            <a:ext cx="4554928" cy="585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085" y="441157"/>
            <a:ext cx="10748210" cy="554254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3600" b="1" dirty="0"/>
              <a:t>PROBLEM STATEMENT</a:t>
            </a:r>
            <a:br>
              <a:rPr lang="en-IN" sz="3600" b="1" dirty="0"/>
            </a:br>
            <a:r>
              <a:rPr lang="en-US" sz="1800" dirty="0"/>
              <a:t>Existing communication systems only support messaging and video interaction but cannot understand human emotions during communication. They also lack sarcasm detection, multilingual understanding, and synchronized real-time emotional monitoring.</a:t>
            </a:r>
            <a:br>
              <a:rPr lang="en-US" sz="2400" dirty="0"/>
            </a:br>
            <a:r>
              <a:rPr lang="en-US" sz="2400" dirty="0"/>
              <a:t>• Cannot understand user emotions  </a:t>
            </a:r>
            <a:br>
              <a:rPr lang="en-US" sz="2400" dirty="0"/>
            </a:br>
            <a:r>
              <a:rPr lang="en-US" sz="2400" dirty="0"/>
              <a:t>• Cannot detect sarcasm  </a:t>
            </a:r>
            <a:br>
              <a:rPr lang="en-US" sz="2400" dirty="0"/>
            </a:br>
            <a:r>
              <a:rPr lang="en-US" sz="2400" dirty="0"/>
              <a:t>• No live emotion tracking  </a:t>
            </a:r>
            <a:br>
              <a:rPr lang="en-US" sz="2400" dirty="0"/>
            </a:br>
            <a:r>
              <a:rPr lang="en-US" sz="2400" dirty="0"/>
              <a:t>• Camera conflicts between users  </a:t>
            </a:r>
            <a:br>
              <a:rPr lang="en-US" sz="2400" dirty="0"/>
            </a:br>
            <a:r>
              <a:rPr lang="en-US" sz="2400" dirty="0"/>
              <a:t>• Limited language support  </a:t>
            </a:r>
            <a:br>
              <a:rPr lang="en-US" sz="2400" dirty="0"/>
            </a:br>
            <a:r>
              <a:rPr lang="en-US" sz="2400" dirty="0"/>
              <a:t>• Weak user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568" y="195073"/>
            <a:ext cx="10923461" cy="6037286"/>
          </a:xfrm>
        </p:spPr>
        <p:txBody>
          <a:bodyPr anchor="b"/>
          <a:lstStyle/>
          <a:p>
            <a:pPr>
              <a:lnSpc>
                <a:spcPct val="150000"/>
              </a:lnSpc>
              <a:spcAft>
                <a:spcPts val="750"/>
              </a:spcAft>
            </a:pPr>
            <a:br>
              <a:rPr lang="en-IN" dirty="0"/>
            </a:br>
            <a:r>
              <a:rPr lang="en-IN" dirty="0"/>
              <a:t>                               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    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          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                                   </a:t>
            </a:r>
            <a:br>
              <a:rPr lang="en-IN" sz="1800" dirty="0"/>
            </a:br>
            <a:br>
              <a:rPr lang="en-IN" dirty="0"/>
            </a:br>
            <a:r>
              <a:rPr lang="en-IN" sz="3600" dirty="0"/>
              <a:t>                                             </a:t>
            </a: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r>
              <a:rPr lang="en-IN" sz="3600" dirty="0"/>
              <a:t>                                                     </a:t>
            </a:r>
            <a:r>
              <a:rPr lang="en-IN" sz="3600" b="1" dirty="0"/>
              <a:t>Objective</a:t>
            </a:r>
            <a:br>
              <a:rPr lang="en-IN" sz="1800" dirty="0"/>
            </a:br>
            <a:r>
              <a:rPr lang="en-IN" sz="1800" dirty="0"/>
              <a:t>The main objective of the project is to create an intelligent distributed communication</a:t>
            </a:r>
            <a:br>
              <a:rPr lang="en-IN" sz="1800" dirty="0"/>
            </a:br>
            <a:r>
              <a:rPr lang="en-IN" sz="1800" dirty="0"/>
              <a:t> platform capable of understanding human emotions dynamically during live interaction</a:t>
            </a:r>
            <a:br>
              <a:rPr lang="en-IN" dirty="0"/>
            </a:br>
            <a:r>
              <a:rPr lang="en-US" sz="2400" dirty="0"/>
              <a:t>• Detect Emotion in Multilingual text Messages  </a:t>
            </a:r>
            <a:br>
              <a:rPr lang="en-US" sz="2400" dirty="0"/>
            </a:br>
            <a:r>
              <a:rPr lang="en-US" sz="2400" dirty="0"/>
              <a:t>• Identify sarcasm from conversational text</a:t>
            </a:r>
            <a:br>
              <a:rPr lang="en-US" sz="2400" dirty="0"/>
            </a:br>
            <a:r>
              <a:rPr lang="en-US" sz="2400" dirty="0"/>
              <a:t>• Perform real-time facial emotion recognition </a:t>
            </a:r>
            <a:br>
              <a:rPr lang="en-US" sz="2400" dirty="0"/>
            </a:br>
            <a:r>
              <a:rPr lang="en-US" sz="2400" dirty="0"/>
              <a:t>• Synchronize emotional analytics between connected users </a:t>
            </a:r>
            <a:br>
              <a:rPr lang="en-US" sz="2400" dirty="0"/>
            </a:br>
            <a:r>
              <a:rPr lang="en-US" sz="2400" dirty="0"/>
              <a:t>• Implement privacy Preserving webcam sharing </a:t>
            </a:r>
            <a:br>
              <a:rPr lang="en-US" sz="2400" dirty="0"/>
            </a:br>
            <a:r>
              <a:rPr lang="en-US" sz="2400" dirty="0"/>
              <a:t>• Generate live emotion monitoring dashboard</a:t>
            </a:r>
            <a:br>
              <a:rPr lang="en-US" sz="2400" dirty="0"/>
            </a:br>
            <a:r>
              <a:rPr lang="en-US" sz="1800" b="1" dirty="0"/>
              <a:t>Expected Output : </a:t>
            </a:r>
            <a:r>
              <a:rPr lang="en-US" sz="1800" dirty="0"/>
              <a:t>The system continuously analyzes user messages and facial expressions, predicts emotions using AI models, and displays synchronized emotional analytics across connected users in real time.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8672" y="5426798"/>
            <a:ext cx="7534656" cy="590760"/>
          </a:xfrm>
        </p:spPr>
        <p:txBody>
          <a:bodyPr/>
          <a:lstStyle/>
          <a:p>
            <a:r>
              <a:rPr lang="en-IN" sz="2200" dirty="0">
                <a:latin typeface="Sagona Book (Headings)"/>
              </a:rPr>
              <a:t>Frontend → Backend → AI Models → Analytics</a:t>
            </a:r>
            <a:endParaRPr lang="en-US" sz="2200" dirty="0">
              <a:latin typeface="Sagona Book (Headings)"/>
            </a:endParaRP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609AC6CC-92C4-C21B-BDAD-416605C58C8D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300451052"/>
              </p:ext>
            </p:extLst>
          </p:nvPr>
        </p:nvGraphicFramePr>
        <p:xfrm>
          <a:off x="713064" y="1267696"/>
          <a:ext cx="7766304" cy="40332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3152">
                  <a:extLst>
                    <a:ext uri="{9D8B030D-6E8A-4147-A177-3AD203B41FA5}">
                      <a16:colId xmlns:a16="http://schemas.microsoft.com/office/drawing/2014/main" val="61612727"/>
                    </a:ext>
                  </a:extLst>
                </a:gridCol>
                <a:gridCol w="3883152">
                  <a:extLst>
                    <a:ext uri="{9D8B030D-6E8A-4147-A177-3AD203B41FA5}">
                      <a16:colId xmlns:a16="http://schemas.microsoft.com/office/drawing/2014/main" val="865619112"/>
                    </a:ext>
                  </a:extLst>
                </a:gridCol>
              </a:tblGrid>
              <a:tr h="569402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Sagona Book (Headings)"/>
                        </a:rPr>
                        <a:t>                   </a:t>
                      </a:r>
                      <a:r>
                        <a:rPr lang="en-IN" sz="2200" b="0" dirty="0">
                          <a:latin typeface="Sagona Book (Headings)"/>
                        </a:rP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b="0" dirty="0">
                          <a:latin typeface="Sagona Book (Headings)"/>
                        </a:rPr>
                        <a:t>                      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517350"/>
                  </a:ext>
                </a:extLst>
              </a:tr>
              <a:tr h="494838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Sagona Book (Headings)"/>
                        </a:rPr>
                        <a:t>                     </a:t>
                      </a:r>
                      <a:r>
                        <a:rPr lang="en-IN" b="0" dirty="0" err="1">
                          <a:latin typeface="Sagona Book (Headings)"/>
                        </a:rPr>
                        <a:t>Streamlit</a:t>
                      </a:r>
                      <a:endParaRPr lang="en-IN" b="0" dirty="0">
                        <a:latin typeface="Sagona Book (Headings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Sagona Book (Headings)"/>
                        </a:rPr>
                        <a:t>           Frontend UI &amp;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7237314"/>
                  </a:ext>
                </a:extLst>
              </a:tr>
              <a:tr h="494838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Sagona Book (Headings)"/>
                        </a:rPr>
                        <a:t>                     Fast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Sagona Book (Headings)"/>
                        </a:rPr>
                        <a:t>           Backend API Communication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783450"/>
                  </a:ext>
                </a:extLst>
              </a:tr>
              <a:tr h="494838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Sagona Book (Headings)"/>
                        </a:rPr>
                        <a:t>                     Transformers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Sagona Book (Headings)"/>
                        </a:rPr>
                        <a:t>           Text Emotion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15613"/>
                  </a:ext>
                </a:extLst>
              </a:tr>
              <a:tr h="494838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Sagona Book (Headings)"/>
                        </a:rPr>
                        <a:t>                    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Sagona Book (Headings)"/>
                        </a:rPr>
                        <a:t>           Facial Emotion Recognition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34404"/>
                  </a:ext>
                </a:extLst>
              </a:tr>
              <a:tr h="494838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Sagona Book (Headings)"/>
                        </a:rPr>
                        <a:t>                     Open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Sagona Book (Headings)"/>
                        </a:rPr>
                        <a:t>           Webcam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11324"/>
                  </a:ext>
                </a:extLst>
              </a:tr>
              <a:tr h="494838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Sagona Book (Headings)"/>
                        </a:rPr>
                        <a:t>                     </a:t>
                      </a:r>
                      <a:r>
                        <a:rPr lang="en-IN" b="0" dirty="0" err="1">
                          <a:latin typeface="Sagona Book (Headings)"/>
                        </a:rPr>
                        <a:t>Tensorflow</a:t>
                      </a:r>
                      <a:endParaRPr lang="en-IN" b="0" dirty="0">
                        <a:latin typeface="Sagona Book (Headings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Sagona Book (Headings)"/>
                        </a:rPr>
                        <a:t>           Deep learning Execution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845773"/>
                  </a:ext>
                </a:extLst>
              </a:tr>
              <a:tr h="494838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Sagona Book (Headings)"/>
                        </a:rPr>
                        <a:t>                     JSON 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Sagona Book (Headings)"/>
                        </a:rPr>
                        <a:t>           Multi client Synchronization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80980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18">
            <a:extLst>
              <a:ext uri="{FF2B5EF4-FFF2-40B4-BE49-F238E27FC236}">
                <a16:creationId xmlns:a16="http://schemas.microsoft.com/office/drawing/2014/main" id="{9480023A-494E-8B38-B00B-AAA996E9425E}"/>
              </a:ext>
            </a:extLst>
          </p:cNvPr>
          <p:cNvSpPr txBox="1">
            <a:spLocks/>
          </p:cNvSpPr>
          <p:nvPr/>
        </p:nvSpPr>
        <p:spPr>
          <a:xfrm>
            <a:off x="3222771" y="0"/>
            <a:ext cx="7534656" cy="9144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Technologies Used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8336" y="0"/>
            <a:ext cx="6522720" cy="890016"/>
          </a:xfrm>
        </p:spPr>
        <p:txBody>
          <a:bodyPr anchor="b"/>
          <a:lstStyle/>
          <a:p>
            <a:r>
              <a:rPr lang="en-US" dirty="0"/>
              <a:t>System Architecture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76168" y="1087747"/>
            <a:ext cx="5066950" cy="2801146"/>
          </a:xfrm>
        </p:spPr>
        <p:txBody>
          <a:bodyPr>
            <a:normAutofit fontScale="77500" lnSpcReduction="20000"/>
          </a:bodyPr>
          <a:lstStyle/>
          <a:p>
            <a:r>
              <a:rPr lang="en-IN" sz="3200" dirty="0">
                <a:latin typeface="Sagona Book (Headings)"/>
              </a:rPr>
              <a:t> </a:t>
            </a:r>
            <a:r>
              <a:rPr lang="en-IN" sz="3600" b="1" dirty="0">
                <a:latin typeface="Sagona Book (Headings)"/>
              </a:rPr>
              <a:t>System Modules</a:t>
            </a:r>
          </a:p>
          <a:p>
            <a:pPr>
              <a:lnSpc>
                <a:spcPct val="150000"/>
              </a:lnSpc>
            </a:pPr>
            <a:r>
              <a:rPr lang="en-IN" sz="2450" dirty="0">
                <a:latin typeface="Sagona Book (Headings)"/>
              </a:rPr>
              <a:t>     </a:t>
            </a:r>
            <a:r>
              <a:rPr lang="en-US" sz="2450" dirty="0">
                <a:latin typeface="Sagona Book (Headings)"/>
              </a:rPr>
              <a:t>• Multi client user layer</a:t>
            </a:r>
          </a:p>
          <a:p>
            <a:pPr>
              <a:lnSpc>
                <a:spcPct val="150000"/>
              </a:lnSpc>
            </a:pPr>
            <a:r>
              <a:rPr lang="en-US" sz="2450" dirty="0">
                <a:latin typeface="Sagona Book (Headings)"/>
              </a:rPr>
              <a:t>• </a:t>
            </a:r>
            <a:r>
              <a:rPr lang="en-US" sz="2450" dirty="0" err="1">
                <a:latin typeface="Sagona Book (Headings)"/>
              </a:rPr>
              <a:t>Streamlit</a:t>
            </a:r>
            <a:r>
              <a:rPr lang="en-US" sz="2450" dirty="0">
                <a:latin typeface="Sagona Book (Headings)"/>
              </a:rPr>
              <a:t> frontend  </a:t>
            </a:r>
          </a:p>
          <a:p>
            <a:pPr>
              <a:lnSpc>
                <a:spcPct val="150000"/>
              </a:lnSpc>
            </a:pPr>
            <a:r>
              <a:rPr lang="en-US" sz="2450" dirty="0">
                <a:latin typeface="Sagona Book (Headings)"/>
              </a:rPr>
              <a:t>•Fast </a:t>
            </a:r>
            <a:r>
              <a:rPr lang="en-US" sz="2450" dirty="0" err="1">
                <a:latin typeface="Sagona Book (Headings)"/>
              </a:rPr>
              <a:t>api</a:t>
            </a:r>
            <a:r>
              <a:rPr lang="en-US" sz="2450" dirty="0">
                <a:latin typeface="Sagona Book (Headings)"/>
              </a:rPr>
              <a:t> backend</a:t>
            </a:r>
          </a:p>
          <a:p>
            <a:pPr>
              <a:lnSpc>
                <a:spcPct val="150000"/>
              </a:lnSpc>
            </a:pPr>
            <a:r>
              <a:rPr lang="en-US" sz="2450" dirty="0">
                <a:latin typeface="Sagona Book (Headings)"/>
              </a:rPr>
              <a:t>• NLP emotion module </a:t>
            </a:r>
            <a:br>
              <a:rPr lang="en-US" sz="2450" dirty="0">
                <a:latin typeface="Sagona Book (Headings)"/>
              </a:rPr>
            </a:br>
            <a:r>
              <a:rPr lang="en-US" sz="2450" dirty="0">
                <a:latin typeface="Sagona Book (Headings)"/>
              </a:rPr>
              <a:t>         • CNN face emotion module </a:t>
            </a:r>
            <a:br>
              <a:rPr lang="en-US" sz="2450" dirty="0">
                <a:latin typeface="Sagona Book (Headings)"/>
              </a:rPr>
            </a:br>
            <a:r>
              <a:rPr lang="en-US" sz="2450" dirty="0">
                <a:latin typeface="Sagona Book (Headings)"/>
              </a:rPr>
              <a:t>     • Synchronization layer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E207C-8CCA-EF66-2E8D-E277DC393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896" y="763651"/>
            <a:ext cx="6932104" cy="6124120"/>
          </a:xfrm>
          <a:prstGeom prst="rect">
            <a:avLst/>
          </a:prstGeom>
        </p:spPr>
      </p:pic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9775C09D-9636-0DD0-FB33-B01D80BE3DFE}"/>
              </a:ext>
            </a:extLst>
          </p:cNvPr>
          <p:cNvSpPr txBox="1">
            <a:spLocks/>
          </p:cNvSpPr>
          <p:nvPr/>
        </p:nvSpPr>
        <p:spPr>
          <a:xfrm>
            <a:off x="96138" y="3181603"/>
            <a:ext cx="5184396" cy="3338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600" b="1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A968066-6568-3BF4-E060-54DB9CE2E5C2}"/>
              </a:ext>
            </a:extLst>
          </p:cNvPr>
          <p:cNvSpPr txBox="1">
            <a:spLocks/>
          </p:cNvSpPr>
          <p:nvPr/>
        </p:nvSpPr>
        <p:spPr>
          <a:xfrm>
            <a:off x="-176168" y="3888893"/>
            <a:ext cx="5314762" cy="27348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200" b="1" dirty="0">
                <a:latin typeface="Sagona Book (Headings)"/>
              </a:rPr>
              <a:t>Internal Working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agona Book (Headings)"/>
              </a:rPr>
              <a:t>1.User sends message/webcam input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agona Book (Headings)"/>
              </a:rPr>
              <a:t>2. Frontend transfers request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agona Book (Headings)"/>
              </a:rPr>
              <a:t>    3.Backend processes emotion prediction 4. Results synchronized to all users 5.Dashboard displays analytics</a:t>
            </a:r>
            <a:endParaRPr lang="en-IN" sz="1800" dirty="0">
              <a:latin typeface="Sagona Book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894" y="-80386"/>
            <a:ext cx="5281317" cy="914400"/>
          </a:xfrm>
        </p:spPr>
        <p:txBody>
          <a:bodyPr/>
          <a:lstStyle/>
          <a:p>
            <a:r>
              <a:rPr lang="en-US" dirty="0"/>
              <a:t>Work Flow of  The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76591C-AFDF-6A14-CCB8-CC0DD94E19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53568" y="1548597"/>
            <a:ext cx="5051810" cy="433120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dirty="0">
                <a:latin typeface="Sagona Book (Headings)"/>
              </a:rPr>
              <a:t>• Users communicate through live chat and webcam input  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Sagona Book (Headings)"/>
              </a:rPr>
              <a:t>• Frontend sends real-time data to the </a:t>
            </a:r>
            <a:r>
              <a:rPr lang="en-IN" dirty="0" err="1">
                <a:latin typeface="Sagona Book (Headings)"/>
              </a:rPr>
              <a:t>FastAPI</a:t>
            </a:r>
            <a:r>
              <a:rPr lang="en-IN" dirty="0">
                <a:latin typeface="Sagona Book (Headings)"/>
              </a:rPr>
              <a:t> backend  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Sagona Book (Headings)"/>
              </a:rPr>
              <a:t>• NLP and CNN models </a:t>
            </a:r>
            <a:r>
              <a:rPr lang="en-IN" dirty="0" err="1">
                <a:latin typeface="Sagona Book (Headings)"/>
              </a:rPr>
              <a:t>analyze</a:t>
            </a:r>
            <a:r>
              <a:rPr lang="en-IN" dirty="0">
                <a:latin typeface="Sagona Book (Headings)"/>
              </a:rPr>
              <a:t> text and facial emotions  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Sagona Book (Headings)"/>
              </a:rPr>
              <a:t>• Backend synchronizes emotional analytics between users  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Sagona Book (Headings)"/>
              </a:rPr>
              <a:t>• Dashboard continuously displays live emotion monitoring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2A3932-4123-C4A0-C213-1055ACCA5F43}"/>
              </a:ext>
            </a:extLst>
          </p:cNvPr>
          <p:cNvSpPr txBox="1"/>
          <p:nvPr/>
        </p:nvSpPr>
        <p:spPr>
          <a:xfrm>
            <a:off x="3048000" y="32473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3BBB93-554A-BF7C-2D9A-F4C0E32C9947}"/>
              </a:ext>
            </a:extLst>
          </p:cNvPr>
          <p:cNvSpPr txBox="1"/>
          <p:nvPr/>
        </p:nvSpPr>
        <p:spPr>
          <a:xfrm>
            <a:off x="3048000" y="32473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9803140-1CF5-C982-BC10-98C2BECB67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1" r="2722"/>
          <a:stretch>
            <a:fillRect/>
          </a:stretch>
        </p:blipFill>
        <p:spPr>
          <a:xfrm>
            <a:off x="5405378" y="1158240"/>
            <a:ext cx="6433054" cy="504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599" y="0"/>
            <a:ext cx="10360152" cy="914400"/>
          </a:xfrm>
        </p:spPr>
        <p:txBody>
          <a:bodyPr/>
          <a:lstStyle/>
          <a:p>
            <a:r>
              <a:rPr lang="en-IN" dirty="0"/>
              <a:t>Text Emotion Detection Module 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576AC765-47FC-4578-AD93-31CA044E4E70}"/>
              </a:ext>
            </a:extLst>
          </p:cNvPr>
          <p:cNvSpPr txBox="1">
            <a:spLocks/>
          </p:cNvSpPr>
          <p:nvPr/>
        </p:nvSpPr>
        <p:spPr>
          <a:xfrm>
            <a:off x="796954" y="973124"/>
            <a:ext cx="10756783" cy="52551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/>
              <a:t>Internal Working </a:t>
            </a:r>
          </a:p>
          <a:p>
            <a:r>
              <a:rPr lang="en-IN" sz="2000" dirty="0"/>
              <a:t>‘1. User message sent to backend </a:t>
            </a:r>
          </a:p>
          <a:p>
            <a:r>
              <a:rPr lang="en-IN" sz="2000" dirty="0"/>
              <a:t> 2. Transformer converts text into vectors</a:t>
            </a:r>
          </a:p>
          <a:p>
            <a:r>
              <a:rPr lang="en-IN" sz="2000" dirty="0"/>
              <a:t> 3.Cosine similarity compares semantic meaning </a:t>
            </a:r>
          </a:p>
          <a:p>
            <a:r>
              <a:rPr lang="en-IN" sz="2000" dirty="0"/>
              <a:t> 4.  Emotion prediction generated in real time </a:t>
            </a:r>
          </a:p>
          <a:p>
            <a:endParaRPr lang="en-IN" sz="2000" dirty="0"/>
          </a:p>
          <a:p>
            <a:r>
              <a:rPr lang="en-IN" sz="2400" b="1" dirty="0"/>
              <a:t>Cosine Attention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    Traditional Transformer:   Dot Product Attention 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    Proposed System: Cosine Similarity Attention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                 Formula Cosine(Q,K) = (Q·K)/ (||Q||×||K||) </a:t>
            </a:r>
          </a:p>
          <a:p>
            <a:endParaRPr lang="en-IN" sz="2000" dirty="0"/>
          </a:p>
          <a:p>
            <a:r>
              <a:rPr lang="en-IN" sz="2000" b="1" dirty="0"/>
              <a:t> Why Cosine?  </a:t>
            </a:r>
          </a:p>
          <a:p>
            <a:r>
              <a:rPr lang="en-IN" sz="2000" dirty="0"/>
              <a:t> 1. Better multilingual matching</a:t>
            </a:r>
          </a:p>
          <a:p>
            <a:r>
              <a:rPr lang="en-IN" sz="2000" dirty="0"/>
              <a:t> 2. Similar meaning → similar vectors</a:t>
            </a:r>
          </a:p>
          <a:p>
            <a:r>
              <a:rPr lang="en-IN" sz="2000" dirty="0"/>
              <a:t> 3. Handles Hindi + English semantic relation</a:t>
            </a:r>
          </a:p>
          <a:p>
            <a:r>
              <a:rPr lang="en-IN" sz="2000" dirty="0"/>
              <a:t> 4. Improves sarcasm understanding</a:t>
            </a:r>
          </a:p>
          <a:p>
            <a:r>
              <a:rPr lang="en-IN" sz="2000" dirty="0"/>
              <a:t> Example “I am happy” ≈ “Main </a:t>
            </a:r>
            <a:r>
              <a:rPr lang="en-IN" sz="2000" dirty="0" err="1"/>
              <a:t>khush</a:t>
            </a:r>
            <a:r>
              <a:rPr lang="en-IN" sz="2000" dirty="0"/>
              <a:t> hu” </a:t>
            </a:r>
          </a:p>
          <a:p>
            <a:r>
              <a:rPr lang="en-IN" sz="2000" b="1" dirty="0"/>
              <a:t>Output Emotions : </a:t>
            </a:r>
            <a:r>
              <a:rPr lang="en-IN" sz="2000" dirty="0"/>
              <a:t>Joy | Anger | Sadness | Fear | Neutral</a:t>
            </a:r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87CB8B1-F847-B9B6-8047-F4DA25B94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97" y="807543"/>
            <a:ext cx="10997967" cy="60504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5D35A4-2FCD-C08E-CAEC-AD7925AADC76}"/>
              </a:ext>
            </a:extLst>
          </p:cNvPr>
          <p:cNvSpPr txBox="1"/>
          <p:nvPr/>
        </p:nvSpPr>
        <p:spPr>
          <a:xfrm>
            <a:off x="2164359" y="315100"/>
            <a:ext cx="905172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/>
              <a:t>Text Emotion Detection Module from Changed Mechanism </a:t>
            </a:r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319" y="318781"/>
            <a:ext cx="6887362" cy="654341"/>
          </a:xfrm>
        </p:spPr>
        <p:txBody>
          <a:bodyPr/>
          <a:lstStyle/>
          <a:p>
            <a:r>
              <a:rPr lang="en-US" dirty="0"/>
              <a:t>Facial Detection Emotion Module</a:t>
            </a:r>
            <a:r>
              <a:rPr lang="en-US" sz="3200" dirty="0"/>
              <a:t>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B57BA5-51DC-BCDC-48D2-F7E1B2B15E4A}"/>
              </a:ext>
            </a:extLst>
          </p:cNvPr>
          <p:cNvSpPr txBox="1"/>
          <p:nvPr/>
        </p:nvSpPr>
        <p:spPr>
          <a:xfrm>
            <a:off x="0" y="1447821"/>
            <a:ext cx="1219199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Sagona Book (Headings)"/>
              </a:rPr>
              <a:t>             Internal Working </a:t>
            </a:r>
          </a:p>
          <a:p>
            <a:endParaRPr lang="en-IN" dirty="0">
              <a:latin typeface="Sagona Book (Headings)"/>
            </a:endParaRPr>
          </a:p>
          <a:p>
            <a:r>
              <a:rPr lang="en-IN" dirty="0">
                <a:latin typeface="Sagona Book (Headings)"/>
              </a:rPr>
              <a:t>                Webcam captures live frame </a:t>
            </a:r>
          </a:p>
          <a:p>
            <a:r>
              <a:rPr lang="en-IN" dirty="0">
                <a:latin typeface="Sagona Book (Headings)"/>
              </a:rPr>
              <a:t>                OpenCV performs face detection </a:t>
            </a:r>
          </a:p>
          <a:p>
            <a:r>
              <a:rPr lang="en-IN" dirty="0">
                <a:latin typeface="Sagona Book (Headings)"/>
              </a:rPr>
              <a:t>                CNN </a:t>
            </a:r>
            <a:r>
              <a:rPr lang="en-IN" dirty="0" err="1">
                <a:latin typeface="Sagona Book (Headings)"/>
              </a:rPr>
              <a:t>analyzes</a:t>
            </a:r>
            <a:r>
              <a:rPr lang="en-IN" dirty="0">
                <a:latin typeface="Sagona Book (Headings)"/>
              </a:rPr>
              <a:t> facial expression </a:t>
            </a:r>
          </a:p>
          <a:p>
            <a:r>
              <a:rPr lang="en-IN" dirty="0">
                <a:latin typeface="Sagona Book (Headings)"/>
              </a:rPr>
              <a:t>                Emotion predicted in real time </a:t>
            </a:r>
          </a:p>
          <a:p>
            <a:endParaRPr lang="en-IN" dirty="0"/>
          </a:p>
          <a:p>
            <a:r>
              <a:rPr lang="en-IN" sz="2200" b="1" dirty="0">
                <a:latin typeface="Sagona Book (Headings)"/>
              </a:rPr>
              <a:t>             Technologies Used </a:t>
            </a:r>
          </a:p>
          <a:p>
            <a:r>
              <a:rPr lang="en-IN" dirty="0">
                <a:latin typeface="Sagona Book (Headings)"/>
              </a:rPr>
              <a:t>                OpenCV </a:t>
            </a:r>
          </a:p>
          <a:p>
            <a:r>
              <a:rPr lang="en-IN" dirty="0">
                <a:latin typeface="Sagona Book (Headings)"/>
              </a:rPr>
              <a:t>                CNN </a:t>
            </a:r>
          </a:p>
          <a:p>
            <a:r>
              <a:rPr lang="en-IN" dirty="0">
                <a:latin typeface="Sagona Book (Headings)"/>
              </a:rPr>
              <a:t>                TensorFlow </a:t>
            </a:r>
          </a:p>
          <a:p>
            <a:r>
              <a:rPr lang="en-IN" dirty="0">
                <a:latin typeface="Sagona Book (Headings)"/>
              </a:rPr>
              <a:t>                 </a:t>
            </a:r>
            <a:r>
              <a:rPr lang="en-IN" dirty="0" err="1">
                <a:latin typeface="Sagona Book (Headings)"/>
              </a:rPr>
              <a:t>Keras</a:t>
            </a:r>
            <a:endParaRPr lang="en-IN" dirty="0">
              <a:latin typeface="Sagona Book (Headings)"/>
            </a:endParaRPr>
          </a:p>
          <a:p>
            <a:endParaRPr lang="en-IN" dirty="0"/>
          </a:p>
          <a:p>
            <a:endParaRPr lang="en-IN" dirty="0"/>
          </a:p>
          <a:p>
            <a:r>
              <a:rPr lang="en-IN" sz="2200" b="1" dirty="0">
                <a:latin typeface="Sagona Book (Headings)"/>
              </a:rPr>
              <a:t>Facial Emotions </a:t>
            </a:r>
            <a:r>
              <a:rPr lang="en-IN" dirty="0">
                <a:latin typeface="Sagona Book (Headings)"/>
              </a:rPr>
              <a:t>Happy | Sad | Angry | Fear | Neutral | Surprise Processing Flow Webcam → Face Detection → CNN → Emotion Prediction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9A0265-0868-5F8E-1A83-474F59278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020" y="1224792"/>
            <a:ext cx="5409681" cy="380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9310" y="-117446"/>
            <a:ext cx="10360152" cy="914400"/>
          </a:xfrm>
        </p:spPr>
        <p:txBody>
          <a:bodyPr/>
          <a:lstStyle/>
          <a:p>
            <a:r>
              <a:rPr lang="en-US" sz="3200" dirty="0"/>
              <a:t> Shared Camera Synchronization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4F88F8-17E5-45E3-77B1-77FACD99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0704" y="0"/>
            <a:ext cx="5494789" cy="914400"/>
          </a:xfrm>
        </p:spPr>
        <p:txBody>
          <a:bodyPr/>
          <a:lstStyle/>
          <a:p>
            <a:r>
              <a:rPr lang="en-US" dirty="0"/>
              <a:t>Model Training And Result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0978-AA3B-65AF-2FB9-FE042E32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299" y="0"/>
            <a:ext cx="3041455" cy="914400"/>
          </a:xfrm>
        </p:spPr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94F08-8FB6-8C30-7800-89837995A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703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55EB0-358D-3CA1-CEDE-9FBF7B80E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6598" y="0"/>
            <a:ext cx="4328719" cy="914400"/>
          </a:xfrm>
        </p:spPr>
        <p:txBody>
          <a:bodyPr/>
          <a:lstStyle/>
          <a:p>
            <a:r>
              <a:rPr lang="en-IN" dirty="0"/>
              <a:t>Future Enhancement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18F65-BEF0-A01E-16A8-407F7DDAF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452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C5A5-68CD-6C61-1D46-8B5CC7FE0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0999" y="0"/>
            <a:ext cx="2550253" cy="91440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642F8-B0E2-656D-B17F-B7A96FD03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468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{6BFB8BFF-EA68-4EB8-BD88-17C1C614AC2C}tf11964407_win32</Template>
  <TotalTime>366</TotalTime>
  <Words>824</Words>
  <Application>Microsoft Office PowerPoint</Application>
  <PresentationFormat>Widescreen</PresentationFormat>
  <Paragraphs>114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Courier New</vt:lpstr>
      <vt:lpstr>Gill Sans Nova Light</vt:lpstr>
      <vt:lpstr>Sagona Book</vt:lpstr>
      <vt:lpstr>Sagona Book (Headings)</vt:lpstr>
      <vt:lpstr>Custom</vt:lpstr>
      <vt:lpstr>REAL-TIME MULTILINGUAL EMOTION DETECTION AND PRIVACY-PRESERVING DISTRIBUTED CHAT SYSTEM USING COSINE TRANSFORMER ATTENTION MECHANISM      Presented By:                                                                                              Guided By.      Sankalp Gupta                                                                           Er. Shesh Mani Tiwari           Suryansh Sharma                                                                                    Department Of     Pranshu Yadav                                                                                    Computer Science ,                                                                                                             CSJM University , Kanpur           </vt:lpstr>
      <vt:lpstr>PowerPoint Presentation</vt:lpstr>
      <vt:lpstr>PROBLEM STATEMENT Existing communication systems only support messaging and video interaction but cannot understand human emotions during communication. They also lack sarcasm detection, multilingual understanding, and synchronized real-time emotional monitoring. • Cannot understand user emotions   • Cannot detect sarcasm   • No live emotion tracking   • Camera conflicts between users   • Limited language support   • Weak user synchronization</vt:lpstr>
      <vt:lpstr>                                                                                                                                                                                                                                                                      Objective The main objective of the project is to create an intelligent distributed communication  platform capable of understanding human emotions dynamically during live interaction • Detect Emotion in Multilingual text Messages   • Identify sarcasm from conversational text • Perform real-time facial emotion recognition  • Synchronize emotional analytics between connected users  • Implement privacy Preserving webcam sharing  • Generate live emotion monitoring dashboard Expected Output : The system continuously analyzes user messages and facial expressions, predicts emotions using AI models, and displays synchronized emotional analytics across connected users in real time.</vt:lpstr>
      <vt:lpstr>Frontend → Backend → AI Models → Analytics</vt:lpstr>
      <vt:lpstr>System Architecture</vt:lpstr>
      <vt:lpstr>Work Flow of  The System</vt:lpstr>
      <vt:lpstr>Text Emotion Detection Module  </vt:lpstr>
      <vt:lpstr>PowerPoint Presentation</vt:lpstr>
      <vt:lpstr>Facial Detection Emotion Module </vt:lpstr>
      <vt:lpstr> Shared Camera Synchronization</vt:lpstr>
      <vt:lpstr>Model Training And Result</vt:lpstr>
      <vt:lpstr>Applications</vt:lpstr>
      <vt:lpstr>Future Enhancement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Sankalp Gupta</dc:creator>
  <cp:lastModifiedBy>Sankalp Gupta</cp:lastModifiedBy>
  <cp:revision>4</cp:revision>
  <dcterms:created xsi:type="dcterms:W3CDTF">2026-05-18T03:11:09Z</dcterms:created>
  <dcterms:modified xsi:type="dcterms:W3CDTF">2026-05-18T14:43:18Z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